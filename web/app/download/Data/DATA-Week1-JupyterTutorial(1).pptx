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8" r:id="rId2"/>
    <p:sldId id="383" r:id="rId3"/>
    <p:sldId id="384" r:id="rId4"/>
    <p:sldId id="385" r:id="rId5"/>
    <p:sldId id="386" r:id="rId6"/>
    <p:sldId id="387" r:id="rId7"/>
    <p:sldId id="388" r:id="rId8"/>
    <p:sldId id="390" r:id="rId9"/>
    <p:sldId id="391" r:id="rId10"/>
    <p:sldId id="392" r:id="rId11"/>
    <p:sldId id="396" r:id="rId12"/>
    <p:sldId id="397" r:id="rId13"/>
    <p:sldId id="393" r:id="rId14"/>
    <p:sldId id="394" r:id="rId15"/>
    <p:sldId id="395" r:id="rId16"/>
  </p:sldIdLst>
  <p:sldSz cx="12993688" cy="9756775"/>
  <p:notesSz cx="6858000" cy="9144000"/>
  <p:defaultTextStyle>
    <a:defPPr>
      <a:defRPr lang="en-US"/>
    </a:defPPr>
    <a:lvl1pPr marL="0" algn="l" defTabSz="65000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0001" algn="l" defTabSz="65000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0002" algn="l" defTabSz="65000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0004" algn="l" defTabSz="65000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0005" algn="l" defTabSz="65000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0006" algn="l" defTabSz="65000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0007" algn="l" defTabSz="65000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0009" algn="l" defTabSz="65000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0010" algn="l" defTabSz="65000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C2F01D7-572E-D948-A34B-147F8D9850DF}">
          <p14:sldIdLst>
            <p14:sldId id="258"/>
            <p14:sldId id="383"/>
            <p14:sldId id="384"/>
            <p14:sldId id="385"/>
            <p14:sldId id="386"/>
            <p14:sldId id="387"/>
            <p14:sldId id="388"/>
            <p14:sldId id="390"/>
            <p14:sldId id="391"/>
            <p14:sldId id="392"/>
            <p14:sldId id="396"/>
            <p14:sldId id="397"/>
            <p14:sldId id="393"/>
            <p14:sldId id="394"/>
            <p14:sldId id="3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3">
          <p15:clr>
            <a:srgbClr val="A4A3A4"/>
          </p15:clr>
        </p15:guide>
        <p15:guide id="2" pos="40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/>
    <p:restoredTop sz="82740" autoAdjust="0"/>
  </p:normalViewPr>
  <p:slideViewPr>
    <p:cSldViewPr snapToGrid="0" snapToObjects="1">
      <p:cViewPr varScale="1">
        <p:scale>
          <a:sx n="73" d="100"/>
          <a:sy n="73" d="100"/>
        </p:scale>
        <p:origin x="2776" y="200"/>
      </p:cViewPr>
      <p:guideLst>
        <p:guide orient="horz" pos="3073"/>
        <p:guide pos="40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76A18-0ACB-8D48-9D62-3B2FB7ECCE1E}" type="datetimeFigureOut">
              <a:rPr lang="en-US" smtClean="0"/>
              <a:t>2/13/25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D126-0D0B-014D-800E-1D8BDB97C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369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56D18-42DE-064B-92D0-E00419E59A91}" type="datetimeFigureOut">
              <a:rPr lang="en-US" smtClean="0"/>
              <a:t>2/13/25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6175" y="685800"/>
            <a:ext cx="4565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13F97-03C4-0545-8DCA-03310EBB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685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33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(Do you like to use your tablet for TV shows and your </a:t>
            </a:r>
            <a:r>
              <a:rPr lang="en-US" dirty="0" err="1"/>
              <a:t>Roku</a:t>
            </a:r>
            <a:r>
              <a:rPr lang="en-US" dirty="0"/>
              <a:t> for movies? Do people access the Just for Kids feature more on their </a:t>
            </a:r>
            <a:r>
              <a:rPr lang="en-US" dirty="0" err="1"/>
              <a:t>iPads</a:t>
            </a:r>
            <a:r>
              <a:rPr lang="en-US" dirty="0"/>
              <a:t>, etc.?)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(Do you like to use your tablet for TV shows and your </a:t>
            </a:r>
            <a:r>
              <a:rPr lang="en-US" dirty="0" err="1"/>
              <a:t>Roku</a:t>
            </a:r>
            <a:r>
              <a:rPr lang="en-US" dirty="0"/>
              <a:t> for movies? Do people access the Just for Kids feature more on their </a:t>
            </a:r>
            <a:r>
              <a:rPr lang="en-US" dirty="0" err="1"/>
              <a:t>iPads</a:t>
            </a:r>
            <a:r>
              <a:rPr lang="en-US" dirty="0"/>
              <a:t>, etc.?)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(Do you like to use your tablet for TV shows and your </a:t>
            </a:r>
            <a:r>
              <a:rPr lang="en-US" dirty="0" err="1"/>
              <a:t>Roku</a:t>
            </a:r>
            <a:r>
              <a:rPr lang="en-US" dirty="0"/>
              <a:t> for movies? Do people access the Just for Kids feature more on their </a:t>
            </a:r>
            <a:r>
              <a:rPr lang="en-US" dirty="0" err="1"/>
              <a:t>iPads</a:t>
            </a:r>
            <a:r>
              <a:rPr lang="en-US" dirty="0"/>
              <a:t>, etc.?)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(Do you like to use your tablet for TV shows and your </a:t>
            </a:r>
            <a:r>
              <a:rPr lang="en-US" dirty="0" err="1"/>
              <a:t>Roku</a:t>
            </a:r>
            <a:r>
              <a:rPr lang="en-US" dirty="0"/>
              <a:t> for movies? Do people access the Just for Kids feature more on their </a:t>
            </a:r>
            <a:r>
              <a:rPr lang="en-US" dirty="0" err="1"/>
              <a:t>iPads</a:t>
            </a:r>
            <a:r>
              <a:rPr lang="en-US" dirty="0"/>
              <a:t>, etc.?)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(Do you like to use your tablet for TV shows and your </a:t>
            </a:r>
            <a:r>
              <a:rPr lang="en-US" dirty="0" err="1"/>
              <a:t>Roku</a:t>
            </a:r>
            <a:r>
              <a:rPr lang="en-US" dirty="0"/>
              <a:t> for movies? Do people access the Just for Kids feature more on their </a:t>
            </a:r>
            <a:r>
              <a:rPr lang="en-US" dirty="0" err="1"/>
              <a:t>iPads</a:t>
            </a:r>
            <a:r>
              <a:rPr lang="en-US" dirty="0"/>
              <a:t>, etc.?)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13F97-03C4-0545-8DCA-03310EBB3AC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4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9685" y="4298133"/>
            <a:ext cx="11694319" cy="1485486"/>
          </a:xfrm>
        </p:spPr>
        <p:txBody>
          <a:bodyPr>
            <a:spAutoFit/>
          </a:bodyPr>
          <a:lstStyle>
            <a:lvl1pPr>
              <a:defRPr sz="8800" baseline="0"/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68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iz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993688" cy="9756775"/>
          </a:xfrm>
        </p:spPr>
        <p:txBody>
          <a:bodyPr anchor="ctr"/>
          <a:lstStyle>
            <a:lvl1pPr marL="0" marR="0" indent="0" algn="ctr" defTabSz="6500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r>
              <a:rPr lang="en-US" dirty="0"/>
              <a:t>Drag image  to placeholder </a:t>
            </a:r>
            <a:br>
              <a:rPr lang="en-US" dirty="0"/>
            </a:br>
            <a:r>
              <a:rPr lang="en-US" dirty="0"/>
              <a:t>or click icon to add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19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ermark and logo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spAutoFit/>
          </a:bodyPr>
          <a:lstStyle>
            <a:lvl1pPr>
              <a:defRPr sz="780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49288" y="4681538"/>
            <a:ext cx="6789737" cy="869933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Sub-header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669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ermark and logo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4527" y="2653779"/>
            <a:ext cx="6944830" cy="1054599"/>
          </a:xfrm>
        </p:spPr>
        <p:txBody>
          <a:bodyPr>
            <a:spAutoFit/>
          </a:bodyPr>
          <a:lstStyle>
            <a:lvl1pPr>
              <a:defRPr sz="6000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4527" y="3729462"/>
            <a:ext cx="6944830" cy="746823"/>
          </a:xfrm>
        </p:spPr>
        <p:txBody>
          <a:bodyPr>
            <a:spAutoFit/>
          </a:bodyPr>
          <a:lstStyle>
            <a:lvl1pPr marL="0" marR="0" indent="0" algn="l" defTabSz="6500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>
                <a:solidFill>
                  <a:srgbClr val="25303B"/>
                </a:solidFill>
              </a:defRPr>
            </a:lvl1pPr>
            <a:lvl2pPr marL="650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0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0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4523700"/>
            <a:ext cx="6944632" cy="623712"/>
          </a:xfrm>
        </p:spPr>
        <p:txBody>
          <a:bodyPr>
            <a:spAutoFit/>
          </a:bodyPr>
          <a:lstStyle>
            <a:lvl1pPr>
              <a:defRPr sz="3200" cap="none" baseline="0"/>
            </a:lvl1pPr>
            <a:lvl2pPr marL="650001" indent="0">
              <a:buNone/>
              <a:defRPr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4725" y="5213666"/>
            <a:ext cx="6944632" cy="1583975"/>
          </a:xfrm>
        </p:spPr>
        <p:txBody>
          <a:bodyPr>
            <a:spAutoFit/>
          </a:bodyPr>
          <a:lstStyle>
            <a:lvl1pPr marL="0" indent="-424800">
              <a:buSzPct val="80000"/>
              <a:buFont typeface="Wingdings" charset="2"/>
              <a:buChar char="§"/>
              <a:defRPr sz="3200" cap="none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bullet style</a:t>
            </a:r>
          </a:p>
          <a:p>
            <a:pPr lvl="2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sub bullet style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8064501" y="2632075"/>
            <a:ext cx="4345214" cy="6284913"/>
          </a:xfrm>
        </p:spPr>
        <p:txBody>
          <a:bodyPr anchor="ctr">
            <a:normAutofit/>
          </a:bodyPr>
          <a:lstStyle>
            <a:lvl1pPr algn="ctr">
              <a:defRPr sz="3200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67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ermark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49685" y="3386245"/>
            <a:ext cx="11694319" cy="1331598"/>
          </a:xfrm>
        </p:spPr>
        <p:txBody>
          <a:bodyPr>
            <a:spAutoFit/>
          </a:bodyPr>
          <a:lstStyle>
            <a:lvl1pPr>
              <a:defRPr sz="780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49288" y="4681538"/>
            <a:ext cx="6789737" cy="869933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Sub-header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ermark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8064501" y="2632075"/>
            <a:ext cx="4345214" cy="6284913"/>
          </a:xfrm>
        </p:spPr>
        <p:txBody>
          <a:bodyPr anchor="ctr">
            <a:normAutofit/>
          </a:bodyPr>
          <a:lstStyle>
            <a:lvl1pPr algn="ctr">
              <a:defRPr sz="3200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74527" y="2653779"/>
            <a:ext cx="6944830" cy="1054599"/>
          </a:xfrm>
        </p:spPr>
        <p:txBody>
          <a:bodyPr>
            <a:spAutoFit/>
          </a:bodyPr>
          <a:lstStyle>
            <a:lvl1pPr>
              <a:defRPr sz="6000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4527" y="3729462"/>
            <a:ext cx="6944830" cy="746823"/>
          </a:xfrm>
        </p:spPr>
        <p:txBody>
          <a:bodyPr>
            <a:spAutoFit/>
          </a:bodyPr>
          <a:lstStyle>
            <a:lvl1pPr marL="0" marR="0" indent="0" algn="l" defTabSz="6500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>
                <a:solidFill>
                  <a:srgbClr val="25303B"/>
                </a:solidFill>
              </a:defRPr>
            </a:lvl1pPr>
            <a:lvl2pPr marL="650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0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0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4523700"/>
            <a:ext cx="6944632" cy="623712"/>
          </a:xfrm>
        </p:spPr>
        <p:txBody>
          <a:bodyPr>
            <a:spAutoFit/>
          </a:bodyPr>
          <a:lstStyle>
            <a:lvl1pPr>
              <a:defRPr sz="3200" cap="none" baseline="0"/>
            </a:lvl1pPr>
            <a:lvl2pPr marL="650001" indent="0">
              <a:buNone/>
              <a:defRPr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4725" y="5213666"/>
            <a:ext cx="6944632" cy="1583975"/>
          </a:xfrm>
        </p:spPr>
        <p:txBody>
          <a:bodyPr>
            <a:spAutoFit/>
          </a:bodyPr>
          <a:lstStyle>
            <a:lvl1pPr marL="0" indent="-424800">
              <a:buSzPct val="80000"/>
              <a:buFont typeface="Wingdings" charset="2"/>
              <a:buChar char="§"/>
              <a:defRPr sz="3200" cap="none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bullet style</a:t>
            </a:r>
          </a:p>
          <a:p>
            <a:pPr lvl="2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sub bullet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33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49685" y="3386245"/>
            <a:ext cx="11694319" cy="1331598"/>
          </a:xfrm>
        </p:spPr>
        <p:txBody>
          <a:bodyPr>
            <a:spAutoFit/>
          </a:bodyPr>
          <a:lstStyle>
            <a:lvl1pPr>
              <a:defRPr sz="780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49288" y="4681538"/>
            <a:ext cx="6789737" cy="869933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Sub-header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55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8064501" y="2632075"/>
            <a:ext cx="4345214" cy="6284913"/>
          </a:xfrm>
        </p:spPr>
        <p:txBody>
          <a:bodyPr anchor="ctr">
            <a:normAutofit/>
          </a:bodyPr>
          <a:lstStyle>
            <a:lvl1pPr algn="ctr">
              <a:defRPr sz="3200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74527" y="2653779"/>
            <a:ext cx="6944830" cy="1054599"/>
          </a:xfrm>
        </p:spPr>
        <p:txBody>
          <a:bodyPr>
            <a:spAutoFit/>
          </a:bodyPr>
          <a:lstStyle>
            <a:lvl1pPr>
              <a:defRPr sz="6000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4527" y="3729462"/>
            <a:ext cx="6944830" cy="746823"/>
          </a:xfrm>
        </p:spPr>
        <p:txBody>
          <a:bodyPr>
            <a:spAutoFit/>
          </a:bodyPr>
          <a:lstStyle>
            <a:lvl1pPr marL="0" marR="0" indent="0" algn="l" defTabSz="6500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>
                <a:solidFill>
                  <a:srgbClr val="25303B"/>
                </a:solidFill>
              </a:defRPr>
            </a:lvl1pPr>
            <a:lvl2pPr marL="650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0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0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4523700"/>
            <a:ext cx="6944632" cy="623712"/>
          </a:xfrm>
        </p:spPr>
        <p:txBody>
          <a:bodyPr>
            <a:spAutoFit/>
          </a:bodyPr>
          <a:lstStyle>
            <a:lvl1pPr>
              <a:defRPr sz="3200" cap="none" baseline="0"/>
            </a:lvl1pPr>
            <a:lvl2pPr marL="650001" indent="0">
              <a:buNone/>
              <a:defRPr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4725" y="5213666"/>
            <a:ext cx="6944632" cy="1583975"/>
          </a:xfrm>
        </p:spPr>
        <p:txBody>
          <a:bodyPr>
            <a:spAutoFit/>
          </a:bodyPr>
          <a:lstStyle>
            <a:lvl1pPr marL="0" indent="-424800">
              <a:buSzPct val="80000"/>
              <a:buFont typeface="Wingdings" charset="2"/>
              <a:buChar char="§"/>
              <a:defRPr sz="3200" cap="none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bullet style</a:t>
            </a:r>
          </a:p>
          <a:p>
            <a:pPr lvl="2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sub bullet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3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49685" y="3386245"/>
            <a:ext cx="11694319" cy="1331598"/>
          </a:xfrm>
        </p:spPr>
        <p:txBody>
          <a:bodyPr>
            <a:spAutoFit/>
          </a:bodyPr>
          <a:lstStyle>
            <a:lvl1pPr>
              <a:defRPr sz="780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49288" y="4681538"/>
            <a:ext cx="6789737" cy="869933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Sub-header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86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8064501" y="2632075"/>
            <a:ext cx="4345214" cy="6284913"/>
          </a:xfrm>
        </p:spPr>
        <p:txBody>
          <a:bodyPr anchor="ctr">
            <a:normAutofit/>
          </a:bodyPr>
          <a:lstStyle>
            <a:lvl1pPr algn="ctr">
              <a:defRPr sz="3200" baseline="0"/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74527" y="2653779"/>
            <a:ext cx="6944830" cy="1054599"/>
          </a:xfrm>
        </p:spPr>
        <p:txBody>
          <a:bodyPr>
            <a:spAutoFit/>
          </a:bodyPr>
          <a:lstStyle>
            <a:lvl1pPr>
              <a:defRPr sz="6000" baseline="0"/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4527" y="3729462"/>
            <a:ext cx="6944830" cy="746823"/>
          </a:xfrm>
        </p:spPr>
        <p:txBody>
          <a:bodyPr>
            <a:spAutoFit/>
          </a:bodyPr>
          <a:lstStyle>
            <a:lvl1pPr marL="0" marR="0" indent="0" algn="l" defTabSz="6500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>
                <a:solidFill>
                  <a:srgbClr val="25303B"/>
                </a:solidFill>
              </a:defRPr>
            </a:lvl1pPr>
            <a:lvl2pPr marL="650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0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0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4523700"/>
            <a:ext cx="6944632" cy="623712"/>
          </a:xfrm>
        </p:spPr>
        <p:txBody>
          <a:bodyPr>
            <a:spAutoFit/>
          </a:bodyPr>
          <a:lstStyle>
            <a:lvl1pPr>
              <a:defRPr sz="3200" cap="none" baseline="0"/>
            </a:lvl1pPr>
            <a:lvl2pPr marL="650001" indent="0">
              <a:buNone/>
              <a:defRPr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4725" y="5213666"/>
            <a:ext cx="6944632" cy="1583975"/>
          </a:xfrm>
        </p:spPr>
        <p:txBody>
          <a:bodyPr>
            <a:spAutoFit/>
          </a:bodyPr>
          <a:lstStyle>
            <a:lvl1pPr marL="0" indent="-424800">
              <a:buSzPct val="80000"/>
              <a:buFont typeface="Wingdings" charset="2"/>
              <a:buChar char="§"/>
              <a:defRPr sz="3200" cap="none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bullet style</a:t>
            </a:r>
          </a:p>
          <a:p>
            <a:pPr lvl="2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sub bullet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9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coal watermark and logo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49685" y="3386245"/>
            <a:ext cx="11694319" cy="1331598"/>
          </a:xfrm>
        </p:spPr>
        <p:txBody>
          <a:bodyPr>
            <a:spAutoFit/>
          </a:bodyPr>
          <a:lstStyle>
            <a:lvl1pPr>
              <a:defRPr sz="7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49288" y="4681538"/>
            <a:ext cx="6789737" cy="869933"/>
          </a:xfrm>
        </p:spPr>
        <p:txBody>
          <a:bodyPr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13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coal watermark and logo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974527" y="2653779"/>
            <a:ext cx="6944830" cy="1054599"/>
          </a:xfrm>
        </p:spPr>
        <p:txBody>
          <a:bodyPr>
            <a:spAutoFit/>
          </a:bodyPr>
          <a:lstStyle>
            <a:lvl1pPr>
              <a:defRPr sz="6000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4527" y="3729462"/>
            <a:ext cx="6944830" cy="746823"/>
          </a:xfrm>
        </p:spPr>
        <p:txBody>
          <a:bodyPr>
            <a:spAutoFit/>
          </a:bodyPr>
          <a:lstStyle>
            <a:lvl1pPr marL="0" marR="0" indent="0" algn="l" defTabSz="6500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>
                <a:solidFill>
                  <a:srgbClr val="FFFFFF"/>
                </a:solidFill>
              </a:defRPr>
            </a:lvl1pPr>
            <a:lvl2pPr marL="650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0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0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8064501" y="2632075"/>
            <a:ext cx="4345214" cy="6284913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4523700"/>
            <a:ext cx="6944632" cy="623712"/>
          </a:xfrm>
        </p:spPr>
        <p:txBody>
          <a:bodyPr>
            <a:spAutoFit/>
          </a:bodyPr>
          <a:lstStyle>
            <a:lvl1pPr>
              <a:defRPr sz="3200" cap="none" baseline="0">
                <a:solidFill>
                  <a:srgbClr val="FFFFFF"/>
                </a:solidFill>
              </a:defRPr>
            </a:lvl1pPr>
            <a:lvl2pPr marL="650001" indent="0">
              <a:buNone/>
              <a:defRPr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4725" y="5213666"/>
            <a:ext cx="6944632" cy="1583975"/>
          </a:xfrm>
        </p:spPr>
        <p:txBody>
          <a:bodyPr>
            <a:spAutoFit/>
          </a:bodyPr>
          <a:lstStyle>
            <a:lvl1pPr marL="0" indent="-424800">
              <a:buSzPct val="80000"/>
              <a:buFont typeface="Wingdings" charset="2"/>
              <a:buChar char="§"/>
              <a:defRPr sz="3200" cap="none">
                <a:solidFill>
                  <a:srgbClr val="FFFFFF"/>
                </a:solidFill>
              </a:defRPr>
            </a:lvl1pPr>
            <a:lvl2pPr>
              <a:defRPr sz="28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bullet style</a:t>
            </a:r>
          </a:p>
          <a:p>
            <a:pPr lvl="2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sub bullet style</a:t>
            </a:r>
          </a:p>
        </p:txBody>
      </p:sp>
    </p:spTree>
    <p:extLst>
      <p:ext uri="{BB962C8B-B14F-4D97-AF65-F5344CB8AC3E}">
        <p14:creationId xmlns:p14="http://schemas.microsoft.com/office/powerpoint/2010/main" val="1060888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coal watermark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49685" y="3386245"/>
            <a:ext cx="11694319" cy="1331598"/>
          </a:xfrm>
        </p:spPr>
        <p:txBody>
          <a:bodyPr>
            <a:spAutoFit/>
          </a:bodyPr>
          <a:lstStyle>
            <a:lvl1pPr>
              <a:defRPr sz="7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49288" y="4681538"/>
            <a:ext cx="6789737" cy="869933"/>
          </a:xfrm>
        </p:spPr>
        <p:txBody>
          <a:bodyPr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488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coal watermark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8064501" y="2632075"/>
            <a:ext cx="4345214" cy="6284913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74527" y="2653779"/>
            <a:ext cx="6944830" cy="1054599"/>
          </a:xfrm>
        </p:spPr>
        <p:txBody>
          <a:bodyPr>
            <a:spAutoFit/>
          </a:bodyPr>
          <a:lstStyle>
            <a:lvl1pPr>
              <a:defRPr sz="6000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4527" y="3729462"/>
            <a:ext cx="6944830" cy="746823"/>
          </a:xfrm>
        </p:spPr>
        <p:txBody>
          <a:bodyPr>
            <a:spAutoFit/>
          </a:bodyPr>
          <a:lstStyle>
            <a:lvl1pPr marL="0" marR="0" indent="0" algn="l" defTabSz="6500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>
                <a:solidFill>
                  <a:srgbClr val="FFFFFF"/>
                </a:solidFill>
              </a:defRPr>
            </a:lvl1pPr>
            <a:lvl2pPr marL="650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0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0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4523700"/>
            <a:ext cx="6944632" cy="623712"/>
          </a:xfrm>
        </p:spPr>
        <p:txBody>
          <a:bodyPr>
            <a:spAutoFit/>
          </a:bodyPr>
          <a:lstStyle>
            <a:lvl1pPr>
              <a:defRPr sz="3200" cap="none" baseline="0">
                <a:solidFill>
                  <a:srgbClr val="FFFFFF"/>
                </a:solidFill>
              </a:defRPr>
            </a:lvl1pPr>
            <a:lvl2pPr marL="650001" indent="0">
              <a:buNone/>
              <a:defRPr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4725" y="5213666"/>
            <a:ext cx="6944632" cy="1583975"/>
          </a:xfrm>
        </p:spPr>
        <p:txBody>
          <a:bodyPr>
            <a:spAutoFit/>
          </a:bodyPr>
          <a:lstStyle>
            <a:lvl1pPr marL="0" indent="-424800">
              <a:buSzPct val="80000"/>
              <a:buFont typeface="Wingdings" charset="2"/>
              <a:buChar char="§"/>
              <a:defRPr sz="3200" cap="none">
                <a:solidFill>
                  <a:srgbClr val="FFFFFF"/>
                </a:solidFill>
              </a:defRPr>
            </a:lvl1pPr>
            <a:lvl2pPr>
              <a:defRPr sz="28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bullet style</a:t>
            </a:r>
          </a:p>
          <a:p>
            <a:pPr lvl="2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sub bullet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865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coal logo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49685" y="3386245"/>
            <a:ext cx="11694319" cy="1331598"/>
          </a:xfrm>
        </p:spPr>
        <p:txBody>
          <a:bodyPr>
            <a:spAutoFit/>
          </a:bodyPr>
          <a:lstStyle>
            <a:lvl1pPr>
              <a:defRPr sz="7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49288" y="4681538"/>
            <a:ext cx="6789737" cy="869933"/>
          </a:xfrm>
        </p:spPr>
        <p:txBody>
          <a:bodyPr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82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coal logo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8064501" y="2632075"/>
            <a:ext cx="4345214" cy="6284913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74527" y="2653779"/>
            <a:ext cx="6944830" cy="1054599"/>
          </a:xfrm>
        </p:spPr>
        <p:txBody>
          <a:bodyPr>
            <a:spAutoFit/>
          </a:bodyPr>
          <a:lstStyle>
            <a:lvl1pPr>
              <a:defRPr sz="6000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4527" y="3729462"/>
            <a:ext cx="6944830" cy="746823"/>
          </a:xfrm>
        </p:spPr>
        <p:txBody>
          <a:bodyPr>
            <a:spAutoFit/>
          </a:bodyPr>
          <a:lstStyle>
            <a:lvl1pPr marL="0" marR="0" indent="0" algn="l" defTabSz="6500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>
                <a:solidFill>
                  <a:srgbClr val="FFFFFF"/>
                </a:solidFill>
              </a:defRPr>
            </a:lvl1pPr>
            <a:lvl2pPr marL="650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0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0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4523700"/>
            <a:ext cx="6944632" cy="623712"/>
          </a:xfrm>
        </p:spPr>
        <p:txBody>
          <a:bodyPr>
            <a:spAutoFit/>
          </a:bodyPr>
          <a:lstStyle>
            <a:lvl1pPr>
              <a:defRPr sz="3200" cap="none" baseline="0">
                <a:solidFill>
                  <a:srgbClr val="FFFFFF"/>
                </a:solidFill>
              </a:defRPr>
            </a:lvl1pPr>
            <a:lvl2pPr marL="650001" indent="0">
              <a:buNone/>
              <a:defRPr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4725" y="5213666"/>
            <a:ext cx="6944632" cy="1583975"/>
          </a:xfrm>
        </p:spPr>
        <p:txBody>
          <a:bodyPr>
            <a:spAutoFit/>
          </a:bodyPr>
          <a:lstStyle>
            <a:lvl1pPr marL="0" indent="-424800">
              <a:buSzPct val="80000"/>
              <a:buFont typeface="Wingdings" charset="2"/>
              <a:buChar char="§"/>
              <a:defRPr sz="3200" cap="none">
                <a:solidFill>
                  <a:srgbClr val="FFFFFF"/>
                </a:solidFill>
              </a:defRPr>
            </a:lvl1pPr>
            <a:lvl2pPr>
              <a:defRPr sz="28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bullet style</a:t>
            </a:r>
          </a:p>
          <a:p>
            <a:pPr lvl="2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sub bullet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00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coal Simpl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49685" y="3386245"/>
            <a:ext cx="11694319" cy="1331598"/>
          </a:xfrm>
        </p:spPr>
        <p:txBody>
          <a:bodyPr>
            <a:spAutoFit/>
          </a:bodyPr>
          <a:lstStyle>
            <a:lvl1pPr>
              <a:defRPr sz="7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49288" y="4681538"/>
            <a:ext cx="6789737" cy="869933"/>
          </a:xfrm>
        </p:spPr>
        <p:txBody>
          <a:bodyPr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9520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coal Simple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8064501" y="2632075"/>
            <a:ext cx="4345214" cy="6284913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image  to placeholder or click icon to add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74527" y="2653779"/>
            <a:ext cx="6944830" cy="1054599"/>
          </a:xfrm>
        </p:spPr>
        <p:txBody>
          <a:bodyPr>
            <a:spAutoFit/>
          </a:bodyPr>
          <a:lstStyle>
            <a:lvl1pPr>
              <a:defRPr sz="6000" baseline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4527" y="3729462"/>
            <a:ext cx="6944830" cy="746823"/>
          </a:xfrm>
        </p:spPr>
        <p:txBody>
          <a:bodyPr>
            <a:spAutoFit/>
          </a:bodyPr>
          <a:lstStyle>
            <a:lvl1pPr marL="0" marR="0" indent="0" algn="l" defTabSz="6500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>
                <a:solidFill>
                  <a:srgbClr val="FFFFFF"/>
                </a:solidFill>
              </a:defRPr>
            </a:lvl1pPr>
            <a:lvl2pPr marL="650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0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0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SUB-HEADER STYLE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4523700"/>
            <a:ext cx="6944632" cy="623712"/>
          </a:xfrm>
        </p:spPr>
        <p:txBody>
          <a:bodyPr>
            <a:spAutoFit/>
          </a:bodyPr>
          <a:lstStyle>
            <a:lvl1pPr>
              <a:defRPr sz="3200" cap="none" baseline="0">
                <a:solidFill>
                  <a:srgbClr val="FFFFFF"/>
                </a:solidFill>
              </a:defRPr>
            </a:lvl1pPr>
            <a:lvl2pPr marL="650001" indent="0">
              <a:buNone/>
              <a:defRPr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dirty="0"/>
              <a:t>Body text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4725" y="5213666"/>
            <a:ext cx="6944632" cy="1583975"/>
          </a:xfrm>
        </p:spPr>
        <p:txBody>
          <a:bodyPr>
            <a:spAutoFit/>
          </a:bodyPr>
          <a:lstStyle>
            <a:lvl1pPr marL="0" indent="-424800">
              <a:buSzPct val="80000"/>
              <a:buFont typeface="Wingdings" charset="2"/>
              <a:buChar char="§"/>
              <a:defRPr sz="3200" cap="none">
                <a:solidFill>
                  <a:srgbClr val="FFFFFF"/>
                </a:solidFill>
              </a:defRPr>
            </a:lvl1pPr>
            <a:lvl2pPr>
              <a:defRPr sz="28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</a:lstStyle>
          <a:p>
            <a:pPr lvl="0"/>
            <a:r>
              <a:rPr lang="en-GB" dirty="0"/>
              <a:t>Bullet text style</a:t>
            </a:r>
          </a:p>
          <a:p>
            <a:pPr lvl="1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bullet style</a:t>
            </a:r>
          </a:p>
          <a:p>
            <a:pPr lvl="2"/>
            <a:r>
              <a:rPr lang="en-US" dirty="0"/>
              <a:t>S</a:t>
            </a:r>
            <a:r>
              <a:rPr lang="en-GB" dirty="0" err="1"/>
              <a:t>ub</a:t>
            </a:r>
            <a:r>
              <a:rPr lang="en-GB" dirty="0"/>
              <a:t> sub bullet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DAT1: Introduction to data science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71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9685" y="3386245"/>
            <a:ext cx="11694319" cy="1331598"/>
          </a:xfrm>
          <a:prstGeom prst="rect">
            <a:avLst/>
          </a:prstGeom>
        </p:spPr>
        <p:txBody>
          <a:bodyPr vert="horz" lIns="130000" tIns="65000" rIns="130000" bIns="65000" rtlCol="0" anchor="ctr">
            <a:spAutoFit/>
          </a:bodyPr>
          <a:lstStyle/>
          <a:p>
            <a:r>
              <a:rPr lang="en-GB" dirty="0"/>
              <a:t>Header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685" y="5057136"/>
            <a:ext cx="11694319" cy="869933"/>
          </a:xfrm>
          <a:prstGeom prst="rect">
            <a:avLst/>
          </a:prstGeom>
        </p:spPr>
        <p:txBody>
          <a:bodyPr vert="horz" lIns="130000" tIns="65000" rIns="130000" bIns="65000" rtlCol="0">
            <a:spAutoFit/>
          </a:bodyPr>
          <a:lstStyle/>
          <a:p>
            <a:pPr lvl="0"/>
            <a:r>
              <a:rPr lang="en-GB" dirty="0"/>
              <a:t>SUB-HEADER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312275" y="9042400"/>
            <a:ext cx="3032125" cy="520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86784-1008-A341-915B-19008760A7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40238" y="9042400"/>
            <a:ext cx="4113212" cy="520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DAT1: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261989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60" r:id="rId3"/>
    <p:sldLayoutId id="2147483649" r:id="rId4"/>
    <p:sldLayoutId id="2147483662" r:id="rId5"/>
    <p:sldLayoutId id="2147483661" r:id="rId6"/>
    <p:sldLayoutId id="2147483664" r:id="rId7"/>
    <p:sldLayoutId id="2147483663" r:id="rId8"/>
    <p:sldLayoutId id="2147483666" r:id="rId9"/>
    <p:sldLayoutId id="2147483665" r:id="rId10"/>
    <p:sldLayoutId id="2147483667" r:id="rId11"/>
    <p:sldLayoutId id="2147483668" r:id="rId12"/>
    <p:sldLayoutId id="2147483672" r:id="rId13"/>
    <p:sldLayoutId id="2147483670" r:id="rId14"/>
    <p:sldLayoutId id="2147483673" r:id="rId15"/>
    <p:sldLayoutId id="2147483671" r:id="rId16"/>
    <p:sldLayoutId id="2147483674" r:id="rId17"/>
    <p:sldLayoutId id="2147483669" r:id="rId18"/>
  </p:sldLayoutIdLst>
  <p:hf hdr="0" dt="0"/>
  <p:txStyles>
    <p:titleStyle>
      <a:lvl1pPr algn="l" defTabSz="650001" rtl="0" eaLnBrk="1" latinLnBrk="0" hangingPunct="1">
        <a:spcBef>
          <a:spcPct val="0"/>
        </a:spcBef>
        <a:buNone/>
        <a:defRPr sz="7800" b="1" kern="1200">
          <a:solidFill>
            <a:schemeClr val="tx1"/>
          </a:solidFill>
          <a:latin typeface="Cambria"/>
          <a:ea typeface="+mj-ea"/>
          <a:cs typeface="Cambria"/>
        </a:defRPr>
      </a:lvl1pPr>
    </p:titleStyle>
    <p:bodyStyle>
      <a:lvl1pPr marL="0" indent="0" algn="l" defTabSz="650001" rtl="0" eaLnBrk="1" latinLnBrk="0" hangingPunct="1">
        <a:spcBef>
          <a:spcPct val="20000"/>
        </a:spcBef>
        <a:buFont typeface="Arial"/>
        <a:buNone/>
        <a:defRPr sz="4800" kern="1200" cap="all" baseline="0">
          <a:solidFill>
            <a:srgbClr val="25303B"/>
          </a:solidFill>
          <a:latin typeface="+mn-lt"/>
          <a:ea typeface="+mn-ea"/>
          <a:cs typeface="+mn-cs"/>
        </a:defRPr>
      </a:lvl1pPr>
      <a:lvl2pPr marL="1056252" indent="-406251" algn="l" defTabSz="650001" rtl="0" eaLnBrk="1" latinLnBrk="0" hangingPunct="1">
        <a:spcBef>
          <a:spcPct val="20000"/>
        </a:spcBef>
        <a:buFont typeface="Arial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003" indent="-325001" algn="l" defTabSz="650001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75004" indent="-325001" algn="l" defTabSz="650001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5006" indent="-325001" algn="l" defTabSz="650001" rtl="0" eaLnBrk="1" latinLnBrk="0" hangingPunct="1">
        <a:spcBef>
          <a:spcPct val="20000"/>
        </a:spcBef>
        <a:buFont typeface="Arial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5007" indent="-325001" algn="l" defTabSz="65000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25008" indent="-325001" algn="l" defTabSz="65000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75009" indent="-325001" algn="l" defTabSz="65000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525011" indent="-325001" algn="l" defTabSz="65000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00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001" algn="l" defTabSz="65000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002" algn="l" defTabSz="65000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004" algn="l" defTabSz="65000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005" algn="l" defTabSz="65000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0006" algn="l" defTabSz="65000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0007" algn="l" defTabSz="65000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0009" algn="l" defTabSz="65000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0010" algn="l" defTabSz="65000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uides.github.com/features/mastering-markdow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products/navigat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hyperlink" Target="https://github.com/adam-p/markdown-here/wiki/Markdown-Cheatshee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W29067qVW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olab.research.google.com/notebooks/basic_features_overview.ipynb" TargetMode="External"/><Relationship Id="rId4" Type="http://schemas.openxmlformats.org/officeDocument/2006/relationships/hyperlink" Target="https://colab.research.google.com/notebooks/intro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9"/>
          <p:cNvSpPr txBox="1">
            <a:spLocks/>
          </p:cNvSpPr>
          <p:nvPr/>
        </p:nvSpPr>
        <p:spPr>
          <a:xfrm>
            <a:off x="762000" y="6162870"/>
            <a:ext cx="11480800" cy="152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584200">
              <a:defRPr sz="6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0"/>
                  </a:outerShdw>
                </a:effectLst>
                <a:latin typeface="+mn-lt"/>
                <a:ea typeface="+mn-ea"/>
                <a:cs typeface="+mn-cs"/>
                <a:sym typeface="Helvetica Neue"/>
              </a:defRPr>
            </a:lvl1pPr>
            <a:lvl2pPr indent="228600" algn="ctr" defTabSz="584200">
              <a:defRPr sz="6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0"/>
                  </a:outerShdw>
                </a:effectLst>
                <a:latin typeface="+mn-lt"/>
                <a:ea typeface="+mn-ea"/>
                <a:cs typeface="+mn-cs"/>
                <a:sym typeface="Helvetica Neue"/>
              </a:defRPr>
            </a:lvl2pPr>
            <a:lvl3pPr indent="457200" algn="ctr" defTabSz="584200">
              <a:defRPr sz="6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0"/>
                  </a:outerShdw>
                </a:effectLst>
                <a:latin typeface="+mn-lt"/>
                <a:ea typeface="+mn-ea"/>
                <a:cs typeface="+mn-cs"/>
                <a:sym typeface="Helvetica Neue"/>
              </a:defRPr>
            </a:lvl3pPr>
            <a:lvl4pPr indent="685800" algn="ctr" defTabSz="584200">
              <a:defRPr sz="6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0"/>
                  </a:outerShdw>
                </a:effectLst>
                <a:latin typeface="+mn-lt"/>
                <a:ea typeface="+mn-ea"/>
                <a:cs typeface="+mn-cs"/>
                <a:sym typeface="Helvetica Neue"/>
              </a:defRPr>
            </a:lvl4pPr>
            <a:lvl5pPr indent="914400" algn="ctr" defTabSz="584200">
              <a:defRPr sz="6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0"/>
                  </a:outerShdw>
                </a:effectLst>
                <a:latin typeface="+mn-lt"/>
                <a:ea typeface="+mn-ea"/>
                <a:cs typeface="+mn-cs"/>
                <a:sym typeface="Helvetica Neue"/>
              </a:defRPr>
            </a:lvl5pPr>
            <a:lvl6pPr indent="1143000" algn="ctr" defTabSz="584200">
              <a:defRPr sz="6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0"/>
                  </a:outerShdw>
                </a:effectLst>
                <a:latin typeface="+mn-lt"/>
                <a:ea typeface="+mn-ea"/>
                <a:cs typeface="+mn-cs"/>
                <a:sym typeface="Helvetica Neue"/>
              </a:defRPr>
            </a:lvl6pPr>
            <a:lvl7pPr indent="1371600" algn="ctr" defTabSz="584200">
              <a:defRPr sz="6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0"/>
                  </a:outerShdw>
                </a:effectLst>
                <a:latin typeface="+mn-lt"/>
                <a:ea typeface="+mn-ea"/>
                <a:cs typeface="+mn-cs"/>
                <a:sym typeface="Helvetica Neue"/>
              </a:defRPr>
            </a:lvl7pPr>
            <a:lvl8pPr indent="1600200" algn="ctr" defTabSz="584200">
              <a:defRPr sz="6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0"/>
                  </a:outerShdw>
                </a:effectLst>
                <a:latin typeface="+mn-lt"/>
                <a:ea typeface="+mn-ea"/>
                <a:cs typeface="+mn-cs"/>
                <a:sym typeface="Helvetica Neue"/>
              </a:defRPr>
            </a:lvl8pPr>
            <a:lvl9pPr indent="1828800" algn="ctr" defTabSz="584200">
              <a:defRPr sz="6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0"/>
                  </a:outerShdw>
                </a:effectLst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600" b="0" dirty="0">
                <a:solidFill>
                  <a:schemeClr val="tx1"/>
                </a:solidFill>
                <a:effectLst/>
              </a:rPr>
              <a:t>Simos Gerasimou</a:t>
            </a:r>
            <a:endParaRPr lang="en-US" sz="16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Title 8"/>
          <p:cNvSpPr txBox="1">
            <a:spLocks/>
          </p:cNvSpPr>
          <p:nvPr/>
        </p:nvSpPr>
        <p:spPr>
          <a:xfrm>
            <a:off x="649685" y="2588597"/>
            <a:ext cx="11694319" cy="3178258"/>
          </a:xfrm>
          <a:prstGeom prst="rect">
            <a:avLst/>
          </a:prstGeom>
        </p:spPr>
        <p:txBody>
          <a:bodyPr vert="horz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8800" b="1" kern="1200" baseline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algn="ctr"/>
            <a:r>
              <a:rPr lang="en-GB" sz="6600" dirty="0"/>
              <a:t>DATA </a:t>
            </a:r>
            <a:br>
              <a:rPr lang="en-GB" sz="6600" dirty="0"/>
            </a:br>
            <a:r>
              <a:rPr lang="en-GB" sz="6600" dirty="0" err="1"/>
              <a:t>Jupyter</a:t>
            </a:r>
            <a:r>
              <a:rPr lang="en-GB" sz="6600" dirty="0"/>
              <a:t> Notebook</a:t>
            </a:r>
            <a:br>
              <a:rPr lang="en-GB" sz="6600" dirty="0"/>
            </a:br>
            <a:r>
              <a:rPr lang="en-GB" sz="6600" dirty="0"/>
              <a:t>Tutorial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4610" t="13764" r="33514" b="11475"/>
          <a:stretch/>
        </p:blipFill>
        <p:spPr>
          <a:xfrm>
            <a:off x="9388069" y="4967916"/>
            <a:ext cx="3109036" cy="362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50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What are </a:t>
            </a:r>
            <a:r>
              <a:rPr lang="en-US" sz="6000" dirty="0" err="1">
                <a:latin typeface="Arial"/>
                <a:cs typeface="Arial"/>
              </a:rPr>
              <a:t>Jupyter</a:t>
            </a:r>
            <a:r>
              <a:rPr lang="en-US" sz="6000" dirty="0">
                <a:latin typeface="Arial"/>
                <a:cs typeface="Arial"/>
              </a:rPr>
              <a:t> Notebooks?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73" y="1746259"/>
            <a:ext cx="12245337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dirty="0"/>
              <a:t>A </a:t>
            </a:r>
            <a:r>
              <a:rPr lang="en-US" dirty="0" err="1"/>
              <a:t>Jupyter</a:t>
            </a:r>
            <a:r>
              <a:rPr lang="en-US" dirty="0"/>
              <a:t> notebook is an electronic file (in .</a:t>
            </a:r>
            <a:r>
              <a:rPr lang="en-US" dirty="0" err="1"/>
              <a:t>ipynb</a:t>
            </a:r>
            <a:r>
              <a:rPr lang="en-US" dirty="0"/>
              <a:t> format) that contains both programming code and text descriptions.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A notebook can also contain embedded charts, plots, images, videos, equations, </a:t>
            </a:r>
            <a:r>
              <a:rPr lang="en-US" dirty="0" err="1"/>
              <a:t>visualisations</a:t>
            </a:r>
            <a:r>
              <a:rPr lang="en-US" dirty="0"/>
              <a:t>, links.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A notebook runs in a web browser (e.g., Firefox, Google Chrome).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It is maintained by Project </a:t>
            </a:r>
            <a:r>
              <a:rPr lang="en-US" dirty="0" err="1"/>
              <a:t>Jupyter</a:t>
            </a:r>
            <a:r>
              <a:rPr lang="en-US" dirty="0"/>
              <a:t>.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The Python code in a notebook is the same type of Python code found in a .</a:t>
            </a:r>
            <a:r>
              <a:rPr lang="en-US" dirty="0" err="1"/>
              <a:t>py</a:t>
            </a:r>
            <a:r>
              <a:rPr lang="en-US" dirty="0"/>
              <a:t> file. 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Notebooks can be exported to a variety of formats including .html and .</a:t>
            </a:r>
            <a:r>
              <a:rPr lang="en-US" dirty="0" err="1"/>
              <a:t>pdf</a:t>
            </a:r>
            <a:r>
              <a:rPr lang="en-US" dirty="0"/>
              <a:t>.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You can find more information at </a:t>
            </a:r>
            <a:r>
              <a:rPr lang="en-US" dirty="0">
                <a:hlinkClick r:id="rId3"/>
              </a:rPr>
              <a:t>https://jupyter.org</a:t>
            </a: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The text description sections of </a:t>
            </a:r>
            <a:r>
              <a:rPr lang="en-US" dirty="0" err="1"/>
              <a:t>Jupyter</a:t>
            </a:r>
            <a:r>
              <a:rPr lang="en-US" dirty="0"/>
              <a:t> notebooks include explanations and clarifications are provided in the markdown format.</a:t>
            </a:r>
          </a:p>
          <a:p>
            <a:pPr marL="514350" indent="-514350">
              <a:buFont typeface="Wingdings" charset="2"/>
              <a:buChar char="Ø"/>
            </a:pPr>
            <a:endParaRPr lang="en-US" b="1" dirty="0"/>
          </a:p>
          <a:p>
            <a:pPr marL="514350" indent="-514350">
              <a:buFont typeface="Wingdings" charset="2"/>
              <a:buChar char="Ø"/>
            </a:pPr>
            <a:r>
              <a:rPr lang="en-US" b="1" dirty="0"/>
              <a:t>Markdown commands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https://guides.github.com/features/mastering-markdown</a:t>
            </a:r>
            <a:endParaRPr lang="en-US" dirty="0"/>
          </a:p>
          <a:p>
            <a:pPr marL="514350" indent="-514350">
              <a:buFont typeface="Wingdings" charset="2"/>
              <a:buChar char="Ø"/>
            </a:pPr>
            <a:endParaRPr lang="en-US" dirty="0"/>
          </a:p>
          <a:p>
            <a:pPr marL="514350" indent="-514350">
              <a:buFont typeface="Wingdings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95824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 err="1">
                <a:latin typeface="Arial"/>
                <a:cs typeface="Arial"/>
              </a:rPr>
              <a:t>Jupyter</a:t>
            </a:r>
            <a:r>
              <a:rPr lang="en-US" sz="6000" dirty="0">
                <a:latin typeface="Arial"/>
                <a:cs typeface="Arial"/>
              </a:rPr>
              <a:t> Notebook 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213" y="1746259"/>
            <a:ext cx="9197261" cy="7632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Using Anaconda</a:t>
            </a:r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A widely used Python distribution for data science pre-loaded with popular libraries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Go to </a:t>
            </a:r>
            <a:r>
              <a:rPr lang="en-US" sz="2200" dirty="0">
                <a:hlinkClick r:id="rId3"/>
              </a:rPr>
              <a:t>https://www.anaconda.com/products/navigator</a:t>
            </a:r>
            <a:endParaRPr lang="en-US" sz="2200" dirty="0"/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Select the installer </a:t>
            </a:r>
            <a:r>
              <a:rPr lang="en-GB" dirty="0"/>
              <a:t>for your </a:t>
            </a:r>
            <a:r>
              <a:rPr lang="en-US" dirty="0"/>
              <a:t>operating system. </a:t>
            </a:r>
            <a:br>
              <a:rPr lang="en-US" dirty="0"/>
            </a:br>
            <a:r>
              <a:rPr lang="en-US" dirty="0"/>
              <a:t>The download should start shortly.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When the download is completed, run the setup file.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When the installation is complete, run the Anaconda Navigator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dirty="0" err="1"/>
              <a:t>Jupyter</a:t>
            </a:r>
            <a:r>
              <a:rPr lang="en-US" dirty="0"/>
              <a:t> Notebook comes pre-installed with Anaconda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If it is not preinstalled, then click the install button below the </a:t>
            </a:r>
            <a:r>
              <a:rPr lang="en-US" dirty="0" err="1"/>
              <a:t>Jupyter</a:t>
            </a:r>
            <a:r>
              <a:rPr lang="en-US" dirty="0"/>
              <a:t> Notebook sign once the Anaconda Navigator opens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Click Launch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If everything went well, the Notebook Dashboard should </a:t>
            </a:r>
            <a:br>
              <a:rPr lang="en-US" b="1" dirty="0"/>
            </a:br>
            <a:r>
              <a:rPr lang="en-US" b="1" dirty="0"/>
              <a:t>open in a web browser tab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290" y="4378675"/>
            <a:ext cx="3482832" cy="5184424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6C4ECBB8-18E4-5E37-F312-393D6324F6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448963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 err="1">
                <a:latin typeface="Arial"/>
                <a:cs typeface="Arial"/>
              </a:rPr>
              <a:t>Jupyter</a:t>
            </a:r>
            <a:r>
              <a:rPr lang="en-US" sz="6000" dirty="0">
                <a:latin typeface="Arial"/>
                <a:cs typeface="Arial"/>
              </a:rPr>
              <a:t> Notebook 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133" y="1746259"/>
            <a:ext cx="12773668" cy="535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Using pip (Python’s package management system)</a:t>
            </a:r>
          </a:p>
          <a:p>
            <a:endParaRPr lang="en-US" sz="2800" b="1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Open terminal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Run: pip3 install </a:t>
            </a:r>
            <a:r>
              <a:rPr lang="en-US" dirty="0" err="1"/>
              <a:t>jupyter</a:t>
            </a:r>
            <a:endParaRPr lang="en-US" dirty="0"/>
          </a:p>
          <a:p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When installation is complete, type “</a:t>
            </a:r>
            <a:r>
              <a:rPr lang="en-US" dirty="0" err="1"/>
              <a:t>jupyter</a:t>
            </a:r>
            <a:r>
              <a:rPr lang="en-US" dirty="0"/>
              <a:t> notebook” (no quotes) and hit the return key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This will print some information about the notebook server in your terminal, including the URL of the web application (by default, http://localhost:8888) 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If everything went well, the Notebook Dashboard should open in a web browser tab 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16040"/>
          <a:stretch/>
        </p:blipFill>
        <p:spPr>
          <a:xfrm>
            <a:off x="6289194" y="6806756"/>
            <a:ext cx="6742460" cy="22953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33" y="6845005"/>
            <a:ext cx="5531374" cy="2197395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793F16EE-5AAB-A578-1B9A-048637E33E6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356195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5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Creating a New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73" y="1746259"/>
            <a:ext cx="12245337" cy="4893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dirty="0"/>
              <a:t>Click on the New button (upper right), and it will open up a </a:t>
            </a:r>
            <a:br>
              <a:rPr lang="en-US" dirty="0"/>
            </a:br>
            <a:r>
              <a:rPr lang="en-US" dirty="0"/>
              <a:t>list of choices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Select Python 3</a:t>
            </a:r>
          </a:p>
          <a:p>
            <a:pPr marL="457200" indent="-457200">
              <a:buFont typeface="Wingdings" charset="2"/>
              <a:buChar char="Ø"/>
            </a:pPr>
            <a:endParaRPr lang="en-US" b="1" i="1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A new notebook will open as a new tab in your web browser.</a:t>
            </a:r>
            <a:br>
              <a:rPr lang="en-US" b="1" dirty="0"/>
            </a:br>
            <a:endParaRPr lang="en-US" b="1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Each notebook is stored as an </a:t>
            </a:r>
            <a:r>
              <a:rPr lang="en-US" b="1" dirty="0"/>
              <a:t>.</a:t>
            </a:r>
            <a:r>
              <a:rPr lang="en-US" b="1" dirty="0" err="1"/>
              <a:t>ipynb</a:t>
            </a:r>
            <a:r>
              <a:rPr lang="en-US" b="1" dirty="0"/>
              <a:t> file</a:t>
            </a:r>
          </a:p>
          <a:p>
            <a:pPr marL="457200" indent="-457200">
              <a:buFont typeface="Wingdings" charset="2"/>
              <a:buChar char="Ø"/>
            </a:pPr>
            <a:endParaRPr lang="en-US" i="1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You should give it a reasonable name (e.g., DATA_Practical1); currently it is "Untitled" </a:t>
            </a:r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Click on the “Untitled” text field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523" y="1746259"/>
            <a:ext cx="2679700" cy="2908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714" y="7130511"/>
            <a:ext cx="7120809" cy="1911889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816237B9-C987-6B2E-EE15-445D90071F6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4149746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54973" y="1746259"/>
            <a:ext cx="12245337" cy="7294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dirty="0"/>
              <a:t>Two primary features of a notebook are: </a:t>
            </a:r>
            <a:r>
              <a:rPr lang="en-US" b="1" dirty="0"/>
              <a:t>Cell </a:t>
            </a:r>
            <a:r>
              <a:rPr lang="en-US" dirty="0"/>
              <a:t>and </a:t>
            </a:r>
            <a:r>
              <a:rPr lang="en-US" b="1" dirty="0"/>
              <a:t>Kernel</a:t>
            </a:r>
          </a:p>
          <a:p>
            <a:pPr marL="457200" indent="-457200">
              <a:buFont typeface="Wingdings" charset="2"/>
              <a:buChar char="Ø"/>
            </a:pPr>
            <a:endParaRPr lang="en-US" b="1" dirty="0"/>
          </a:p>
          <a:p>
            <a:pPr marL="457200" indent="-457200">
              <a:buFont typeface="Wingdings" charset="2"/>
              <a:buChar char="Ø"/>
            </a:pPr>
            <a:endParaRPr lang="en-US" b="1" dirty="0"/>
          </a:p>
          <a:p>
            <a:pPr marL="457200" indent="-457200">
              <a:buFont typeface="Wingdings" charset="2"/>
              <a:buChar char="Ø"/>
            </a:pPr>
            <a:endParaRPr lang="en-US" b="1" dirty="0"/>
          </a:p>
          <a:p>
            <a:pPr marL="457200" indent="-457200">
              <a:buFont typeface="Wingdings" charset="2"/>
              <a:buChar char="Ø"/>
            </a:pPr>
            <a:endParaRPr lang="en-US" b="1" dirty="0"/>
          </a:p>
          <a:p>
            <a:pPr marL="457200" indent="-457200">
              <a:buFont typeface="Wingdings" charset="2"/>
              <a:buChar char="Ø"/>
            </a:pPr>
            <a:endParaRPr lang="en-US" b="1" dirty="0"/>
          </a:p>
          <a:p>
            <a:pPr marL="457200" indent="-457200">
              <a:buFont typeface="Wingdings" charset="2"/>
              <a:buChar char="Ø"/>
            </a:pPr>
            <a:endParaRPr lang="en-US" b="1" dirty="0"/>
          </a:p>
          <a:p>
            <a:pPr marL="457200" indent="-457200">
              <a:buFont typeface="Wingdings" charset="2"/>
              <a:buChar char="Ø"/>
            </a:pPr>
            <a:endParaRPr lang="en-US" b="1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Kernel:</a:t>
            </a:r>
            <a:r>
              <a:rPr lang="en-US" dirty="0"/>
              <a:t> a “computational engine” that executes the code </a:t>
            </a:r>
            <a:br>
              <a:rPr lang="en-US" dirty="0"/>
            </a:br>
            <a:r>
              <a:rPr lang="en-US" dirty="0"/>
              <a:t>contained in a notebook document and produces the results.</a:t>
            </a:r>
          </a:p>
          <a:p>
            <a:pPr marL="892175" lvl="1" indent="-457200">
              <a:buFont typeface="Wingdings" charset="2"/>
              <a:buChar char="Ø"/>
            </a:pPr>
            <a:r>
              <a:rPr lang="en-US" dirty="0"/>
              <a:t>In this case, it is a Python kernel</a:t>
            </a:r>
          </a:p>
          <a:p>
            <a:pPr marL="892175" lvl="1" indent="-457200">
              <a:buFont typeface="Wingdings" charset="2"/>
              <a:buChar char="Ø"/>
            </a:pPr>
            <a:r>
              <a:rPr lang="en-US" dirty="0"/>
              <a:t>The kernel can be restarted (e.g., if execution takes a long time)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Cell: </a:t>
            </a:r>
            <a:r>
              <a:rPr lang="en-US" dirty="0"/>
              <a:t>a container for text to be displayed in the notebook </a:t>
            </a:r>
            <a:br>
              <a:rPr lang="en-US" dirty="0"/>
            </a:br>
            <a:r>
              <a:rPr lang="en-US" dirty="0"/>
              <a:t>or code to be executed by the notebook’s kernel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514350" indent="-514350">
              <a:buFont typeface="Wingdings" charset="2"/>
              <a:buChar char="Ø"/>
            </a:pPr>
            <a:endParaRPr lang="en-US" dirty="0"/>
          </a:p>
          <a:p>
            <a:pPr marL="514350" indent="-514350">
              <a:buFont typeface="Wingdings" charset="2"/>
              <a:buChar char="Ø"/>
            </a:pPr>
            <a:endParaRPr lang="en-US" b="1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708" y="2426160"/>
            <a:ext cx="8025327" cy="216683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6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The Notebook Interface</a:t>
            </a:r>
          </a:p>
        </p:txBody>
      </p:sp>
      <p:sp>
        <p:nvSpPr>
          <p:cNvPr id="2" name="Oval 1"/>
          <p:cNvSpPr/>
          <p:nvPr/>
        </p:nvSpPr>
        <p:spPr>
          <a:xfrm>
            <a:off x="5415405" y="2875102"/>
            <a:ext cx="467372" cy="335258"/>
          </a:xfrm>
          <a:prstGeom prst="ellipse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953896" y="2895430"/>
            <a:ext cx="660426" cy="335258"/>
          </a:xfrm>
          <a:prstGeom prst="ellipse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652" y="4592998"/>
            <a:ext cx="2448774" cy="3200707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CF6F492E-9D6E-06C4-7D4B-659AC40A0E0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375174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23" y="3495856"/>
            <a:ext cx="11947182" cy="292584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7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Code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73" y="1746259"/>
            <a:ext cx="12538715" cy="7032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b="1" dirty="0"/>
              <a:t>A notebook contains three types of cells: </a:t>
            </a:r>
            <a:r>
              <a:rPr lang="en-US" b="1" dirty="0">
                <a:solidFill>
                  <a:srgbClr val="0000FF"/>
                </a:solidFill>
              </a:rPr>
              <a:t>code cells</a:t>
            </a:r>
            <a:r>
              <a:rPr lang="en-US" b="1" dirty="0"/>
              <a:t>, output cells, and markdown cells. </a:t>
            </a: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Code cells</a:t>
            </a:r>
            <a:r>
              <a:rPr lang="en-US" dirty="0"/>
              <a:t>: contain Python code that could be executed</a:t>
            </a:r>
            <a:br>
              <a:rPr lang="en-US" dirty="0"/>
            </a:b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Hint: If the cell-type drop-down menu shows Code, then you are at a code cell. 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sz="1100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Brackets next to cell: </a:t>
            </a:r>
            <a:r>
              <a:rPr lang="en-US" dirty="0"/>
              <a:t>if the </a:t>
            </a:r>
            <a:r>
              <a:rPr lang="en-US" b="1" dirty="0"/>
              <a:t>[</a:t>
            </a:r>
            <a:r>
              <a:rPr lang="mr-IN" b="1" dirty="0"/>
              <a:t>…</a:t>
            </a:r>
            <a:r>
              <a:rPr lang="en-US" b="1" dirty="0"/>
              <a:t>]</a:t>
            </a:r>
            <a:r>
              <a:rPr lang="en-US" dirty="0"/>
              <a:t> to the left of a cell shows a number then it means that the cell has been evaluated! This means that the code written in that cell has been run. If it is </a:t>
            </a:r>
            <a:r>
              <a:rPr lang="en-US" b="1" dirty="0"/>
              <a:t>[]</a:t>
            </a:r>
            <a:r>
              <a:rPr lang="en-US" dirty="0"/>
              <a:t> then the cell has not been run yet. If it is </a:t>
            </a:r>
            <a:r>
              <a:rPr lang="en-US" b="1" dirty="0"/>
              <a:t>[*]</a:t>
            </a:r>
            <a:r>
              <a:rPr lang="en-US" dirty="0"/>
              <a:t> then the code is still evaluated. </a:t>
            </a:r>
          </a:p>
          <a:p>
            <a:pPr marL="457200" indent="-457200">
              <a:buFont typeface="Wingdings" charset="2"/>
              <a:buChar char="Ø"/>
            </a:pPr>
            <a:endParaRPr lang="en-US" b="1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Executing the code in a cell: </a:t>
            </a:r>
            <a:r>
              <a:rPr lang="en-US" dirty="0"/>
              <a:t>Click the [Run] button or type [Shift]+[Enter].</a:t>
            </a:r>
            <a:endParaRPr lang="en-US" b="1" dirty="0"/>
          </a:p>
        </p:txBody>
      </p:sp>
      <p:sp>
        <p:nvSpPr>
          <p:cNvPr id="13" name="Oval 12"/>
          <p:cNvSpPr/>
          <p:nvPr/>
        </p:nvSpPr>
        <p:spPr>
          <a:xfrm>
            <a:off x="6431430" y="3587280"/>
            <a:ext cx="1747570" cy="659324"/>
          </a:xfrm>
          <a:prstGeom prst="ellipse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1544357" y="5262537"/>
            <a:ext cx="264167" cy="1503583"/>
          </a:xfrm>
          <a:prstGeom prst="straightConnector1">
            <a:avLst/>
          </a:prstGeom>
          <a:ln w="38100" cmpd="sng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023450" y="3495856"/>
            <a:ext cx="1016036" cy="659324"/>
          </a:xfrm>
          <a:prstGeom prst="ellipse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3DE4A985-585C-3FD6-1AC7-5BA0464B631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324294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2735"/>
            <a:ext cx="12993688" cy="21970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8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Output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73" y="1746259"/>
            <a:ext cx="12538715" cy="7217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b="1" dirty="0"/>
              <a:t>A notebook contains three types of cells: code cells, </a:t>
            </a:r>
            <a:r>
              <a:rPr lang="en-US" b="1" dirty="0">
                <a:solidFill>
                  <a:srgbClr val="0000FF"/>
                </a:solidFill>
              </a:rPr>
              <a:t>output cells</a:t>
            </a:r>
            <a:r>
              <a:rPr lang="en-US" b="1" dirty="0"/>
              <a:t>, and markdown cells. </a:t>
            </a: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Output cells</a:t>
            </a:r>
            <a:r>
              <a:rPr lang="en-US" dirty="0"/>
              <a:t>: Contain the output from running the code cells as well as charts, plots, command line output, and images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Not all code produces output, so not all code cells produce output cells.</a:t>
            </a:r>
          </a:p>
          <a:p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The results in output cells can't be edited. 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Brackets next to cell: </a:t>
            </a:r>
            <a:r>
              <a:rPr lang="en-US" dirty="0"/>
              <a:t>if the </a:t>
            </a:r>
            <a:r>
              <a:rPr lang="en-US" b="1" dirty="0"/>
              <a:t>[</a:t>
            </a:r>
            <a:r>
              <a:rPr lang="mr-IN" b="1" dirty="0"/>
              <a:t>…</a:t>
            </a:r>
            <a:r>
              <a:rPr lang="en-US" b="1" dirty="0"/>
              <a:t>]</a:t>
            </a:r>
            <a:r>
              <a:rPr lang="en-US" dirty="0"/>
              <a:t> to the left of a cell shows a number then it means that the cell has been evaluated! This means that the code written in that cell has been run. If it is </a:t>
            </a:r>
            <a:r>
              <a:rPr lang="en-US" b="1" dirty="0"/>
              <a:t>[]</a:t>
            </a:r>
            <a:r>
              <a:rPr lang="en-US" dirty="0"/>
              <a:t> then the cell has not been run yet. If it is </a:t>
            </a:r>
            <a:r>
              <a:rPr lang="en-US" b="1" dirty="0"/>
              <a:t>[*]</a:t>
            </a:r>
            <a:r>
              <a:rPr lang="en-US" dirty="0"/>
              <a:t> then the code is still evaluated. </a:t>
            </a:r>
          </a:p>
          <a:p>
            <a:endParaRPr lang="en-US" dirty="0"/>
          </a:p>
          <a:p>
            <a:endParaRPr lang="en-US" sz="1100" dirty="0"/>
          </a:p>
        </p:txBody>
      </p:sp>
      <p:sp>
        <p:nvSpPr>
          <p:cNvPr id="16" name="Oval 15"/>
          <p:cNvSpPr/>
          <p:nvPr/>
        </p:nvSpPr>
        <p:spPr>
          <a:xfrm>
            <a:off x="434653" y="4462735"/>
            <a:ext cx="1016036" cy="659324"/>
          </a:xfrm>
          <a:prstGeom prst="ellipse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1026186" y="5359588"/>
            <a:ext cx="264166" cy="1823065"/>
          </a:xfrm>
          <a:prstGeom prst="straightConnector1">
            <a:avLst/>
          </a:prstGeom>
          <a:ln w="38100" cmpd="sng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290352" y="6176878"/>
            <a:ext cx="4348586" cy="660357"/>
          </a:xfrm>
          <a:prstGeom prst="roundRect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94DF3D46-4F94-C07D-6546-472025ECF3B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3400314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320" y="4297319"/>
            <a:ext cx="9902734" cy="183345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9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Markdown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73" y="1746259"/>
            <a:ext cx="12538715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b="1" dirty="0"/>
              <a:t>A notebook contains three types of cells: code cells, </a:t>
            </a:r>
            <a:r>
              <a:rPr lang="en-US" b="1" dirty="0">
                <a:solidFill>
                  <a:srgbClr val="25303B"/>
                </a:solidFill>
              </a:rPr>
              <a:t>output cells</a:t>
            </a:r>
            <a:r>
              <a:rPr lang="en-US" b="1" dirty="0"/>
              <a:t>, and </a:t>
            </a:r>
            <a:r>
              <a:rPr lang="en-US" b="1" dirty="0">
                <a:solidFill>
                  <a:srgbClr val="0000FF"/>
                </a:solidFill>
              </a:rPr>
              <a:t>markdown cells</a:t>
            </a:r>
            <a:r>
              <a:rPr lang="en-US" b="1" dirty="0"/>
              <a:t>. </a:t>
            </a: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Markdown cells</a:t>
            </a:r>
            <a:r>
              <a:rPr lang="en-US" dirty="0"/>
              <a:t>: Contain text-like descriptions that conform to the Markdown syntax (</a:t>
            </a:r>
            <a:r>
              <a:rPr lang="en-US" sz="2000" dirty="0">
                <a:hlinkClick r:id="rId4"/>
              </a:rPr>
              <a:t>https://github.com/adam-p/markdown-here/wiki/Markdown-Cheatsheet</a:t>
            </a:r>
            <a:r>
              <a:rPr lang="en-US" dirty="0"/>
              <a:t>)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These cells are typically used to explain the code or output (before or above a Markdown cell). They don't contain Python code 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endParaRPr lang="en-US" dirty="0"/>
          </a:p>
          <a:p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Executing markdown in a cell: </a:t>
            </a:r>
            <a:r>
              <a:rPr lang="en-US" dirty="0"/>
              <a:t>Click the [Run] button or type [Shift]+[Enter]</a:t>
            </a:r>
          </a:p>
          <a:p>
            <a:endParaRPr lang="en-US" sz="1100" dirty="0"/>
          </a:p>
        </p:txBody>
      </p:sp>
      <p:sp>
        <p:nvSpPr>
          <p:cNvPr id="16" name="Oval 15"/>
          <p:cNvSpPr/>
          <p:nvPr/>
        </p:nvSpPr>
        <p:spPr>
          <a:xfrm>
            <a:off x="6329800" y="4312228"/>
            <a:ext cx="1605353" cy="659324"/>
          </a:xfrm>
          <a:prstGeom prst="ellipse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t="17579"/>
          <a:stretch/>
        </p:blipFill>
        <p:spPr>
          <a:xfrm>
            <a:off x="1148708" y="6963071"/>
            <a:ext cx="10362184" cy="2238135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19246F3B-25D2-51D5-5ABC-906386C5101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3725706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21" y="4798548"/>
            <a:ext cx="11327407" cy="214819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10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Creating a New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73" y="1746259"/>
            <a:ext cx="1253871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dirty="0"/>
              <a:t>You can create a new cell by clicking the [+] button in the upper menu. </a:t>
            </a:r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Clicking [+] creates a new code cell below the active cell. 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You can also create a new cell by clicking the </a:t>
            </a:r>
            <a:r>
              <a:rPr lang="en-US" b="1" dirty="0"/>
              <a:t>Insert </a:t>
            </a:r>
            <a:r>
              <a:rPr lang="en-US" dirty="0"/>
              <a:t>option from the toolbar</a:t>
            </a:r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A cell is inserted above or below the currently selected cell</a:t>
            </a:r>
            <a:endParaRPr lang="en-US" sz="1100" b="1" dirty="0"/>
          </a:p>
        </p:txBody>
      </p:sp>
      <p:sp>
        <p:nvSpPr>
          <p:cNvPr id="16" name="Oval 15"/>
          <p:cNvSpPr/>
          <p:nvPr/>
        </p:nvSpPr>
        <p:spPr>
          <a:xfrm>
            <a:off x="1402081" y="5602464"/>
            <a:ext cx="812854" cy="659324"/>
          </a:xfrm>
          <a:prstGeom prst="ellipse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185985" y="4832671"/>
            <a:ext cx="1270068" cy="769794"/>
          </a:xfrm>
          <a:prstGeom prst="ellipse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B8820E97-6176-41B8-FE6A-2B98CB3C279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3585703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11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Getting Help within a Notebook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094" y="3933807"/>
            <a:ext cx="3060700" cy="391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4973" y="1746259"/>
            <a:ext cx="12538715" cy="6278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dirty="0"/>
              <a:t>There are several ways we can get help within a notebook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Using the </a:t>
            </a:r>
            <a:r>
              <a:rPr lang="en-US" b="1" dirty="0" err="1">
                <a:solidFill>
                  <a:srgbClr val="0000FF"/>
                </a:solidFill>
              </a:rPr>
              <a:t>dir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/>
              <a:t>command</a:t>
            </a:r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Type </a:t>
            </a:r>
            <a:r>
              <a:rPr lang="en-US" dirty="0" err="1"/>
              <a:t>dir</a:t>
            </a:r>
            <a:r>
              <a:rPr lang="en-US" dirty="0"/>
              <a:t>() and provide as input a function, method, variable or object </a:t>
            </a:r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Shows the possible object, method and function calls available to that object 	</a:t>
            </a:r>
          </a:p>
          <a:p>
            <a:endParaRPr lang="en-US" sz="1200" dirty="0"/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e.g., </a:t>
            </a:r>
            <a:r>
              <a:rPr lang="en-US" b="1" i="1" dirty="0" err="1">
                <a:solidFill>
                  <a:srgbClr val="0000FF"/>
                </a:solidFill>
              </a:rPr>
              <a:t>dir</a:t>
            </a:r>
            <a:r>
              <a:rPr lang="en-US" b="1" i="1" dirty="0">
                <a:solidFill>
                  <a:srgbClr val="0000FF"/>
                </a:solidFill>
              </a:rPr>
              <a:t>(math)</a:t>
            </a:r>
            <a:r>
              <a:rPr lang="en-US" i="1" dirty="0"/>
              <a:t> </a:t>
            </a:r>
            <a:r>
              <a:rPr lang="en-US" dirty="0"/>
              <a:t>shows the contents of the math module</a:t>
            </a:r>
          </a:p>
          <a:p>
            <a:pPr marL="1107201" lvl="1" indent="-457200">
              <a:buFont typeface="Wingdings" charset="2"/>
              <a:buChar char="Ø"/>
            </a:pPr>
            <a:endParaRPr lang="en-US" dirty="0"/>
          </a:p>
          <a:p>
            <a:pPr marL="1107201" lvl="1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Using the </a:t>
            </a:r>
            <a:r>
              <a:rPr lang="en-US" b="1" dirty="0">
                <a:solidFill>
                  <a:srgbClr val="0000FF"/>
                </a:solidFill>
              </a:rPr>
              <a:t>Tab completion functionality</a:t>
            </a:r>
            <a:endParaRPr lang="en-US" b="1" dirty="0"/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Use the [Tab] key after typing the name of a variable, object </a:t>
            </a:r>
            <a:br>
              <a:rPr lang="en-US" dirty="0"/>
            </a:br>
            <a:r>
              <a:rPr lang="en-US" dirty="0"/>
              <a:t>or function to view the available options.</a:t>
            </a:r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Scroll through the list</a:t>
            </a:r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Use [Enter] to select the desired option.</a:t>
            </a:r>
          </a:p>
          <a:p>
            <a:pPr marL="1107201" lvl="1" indent="-457200">
              <a:buFont typeface="Wingdings" charset="2"/>
              <a:buChar char="Ø"/>
            </a:pPr>
            <a:endParaRPr lang="en-US" b="1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108" y="6430601"/>
            <a:ext cx="2716029" cy="2443061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4AE4E4CD-DCE4-358A-E8AB-A866E3BC009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4190252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12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Getting Help within a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73" y="1544679"/>
            <a:ext cx="12538715" cy="6278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dirty="0"/>
              <a:t>There are several ways we can get help within a notebook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Using the </a:t>
            </a:r>
            <a:r>
              <a:rPr lang="en-US" b="1" dirty="0">
                <a:solidFill>
                  <a:srgbClr val="0000FF"/>
                </a:solidFill>
              </a:rPr>
              <a:t>help() </a:t>
            </a:r>
            <a:r>
              <a:rPr lang="en-US" b="1" dirty="0"/>
              <a:t>function</a:t>
            </a:r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Type help() and provide as input a function, method, variable or object </a:t>
            </a:r>
            <a:endParaRPr lang="en-US" sz="1200" dirty="0"/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e.g., </a:t>
            </a:r>
            <a:r>
              <a:rPr lang="en-US" b="1" i="1" dirty="0">
                <a:solidFill>
                  <a:srgbClr val="0000FF"/>
                </a:solidFill>
              </a:rPr>
              <a:t>help(</a:t>
            </a:r>
            <a:r>
              <a:rPr lang="en-US" b="1" i="1" dirty="0" err="1">
                <a:solidFill>
                  <a:srgbClr val="0000FF"/>
                </a:solidFill>
              </a:rPr>
              <a:t>math.cos</a:t>
            </a:r>
            <a:r>
              <a:rPr lang="en-US" b="1" i="1" dirty="0">
                <a:solidFill>
                  <a:srgbClr val="0000FF"/>
                </a:solidFill>
              </a:rPr>
              <a:t>)</a:t>
            </a:r>
            <a:r>
              <a:rPr lang="en-US" i="1" dirty="0"/>
              <a:t> </a:t>
            </a:r>
            <a:r>
              <a:rPr lang="en-US" dirty="0"/>
              <a:t>shows the documentation of the </a:t>
            </a:r>
            <a:r>
              <a:rPr lang="en-US" dirty="0" err="1"/>
              <a:t>cos</a:t>
            </a:r>
            <a:r>
              <a:rPr lang="en-US" dirty="0"/>
              <a:t> function</a:t>
            </a:r>
          </a:p>
          <a:p>
            <a:pPr marL="1107201" lvl="1" indent="-457200">
              <a:buFont typeface="Wingdings" charset="2"/>
              <a:buChar char="Ø"/>
            </a:pPr>
            <a:endParaRPr lang="en-US" dirty="0"/>
          </a:p>
          <a:p>
            <a:pPr marL="1107201" lvl="1" indent="-457200">
              <a:buFont typeface="Wingdings" charset="2"/>
              <a:buChar char="Ø"/>
            </a:pPr>
            <a:endParaRPr lang="en-US" dirty="0"/>
          </a:p>
          <a:p>
            <a:pPr marL="1107201" lvl="1" indent="-457200">
              <a:buFont typeface="Wingdings" charset="2"/>
              <a:buChar char="Ø"/>
            </a:pPr>
            <a:endParaRPr lang="en-US" dirty="0"/>
          </a:p>
          <a:p>
            <a:pPr marL="1107201" lvl="1" indent="-457200">
              <a:buFont typeface="Wingdings" charset="2"/>
              <a:buChar char="Ø"/>
            </a:pPr>
            <a:endParaRPr lang="en-US" dirty="0"/>
          </a:p>
          <a:p>
            <a:pPr marL="1107201" lvl="1" indent="-457200">
              <a:buFont typeface="Wingdings" charset="2"/>
              <a:buChar char="Ø"/>
            </a:pPr>
            <a:endParaRPr lang="en-US" dirty="0"/>
          </a:p>
          <a:p>
            <a:pPr marL="1107201" lvl="1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b="1" dirty="0"/>
              <a:t>Using the </a:t>
            </a:r>
            <a:r>
              <a:rPr lang="en-US" b="1" dirty="0">
                <a:solidFill>
                  <a:srgbClr val="0000FF"/>
                </a:solidFill>
              </a:rPr>
              <a:t>question mark ?</a:t>
            </a:r>
            <a:endParaRPr lang="en-US" b="1" dirty="0"/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Use the [?] after a </a:t>
            </a:r>
            <a:br>
              <a:rPr lang="en-US" dirty="0"/>
            </a:br>
            <a:r>
              <a:rPr lang="en-US" dirty="0"/>
              <a:t>function to get help </a:t>
            </a:r>
            <a:br>
              <a:rPr lang="en-US" dirty="0"/>
            </a:br>
            <a:r>
              <a:rPr lang="en-US" dirty="0"/>
              <a:t>and view its source code</a:t>
            </a:r>
            <a:endParaRPr lang="en-US" b="1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706" y="3401439"/>
            <a:ext cx="8392041" cy="21518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433" y="5780576"/>
            <a:ext cx="7320596" cy="3322298"/>
          </a:xfrm>
          <a:prstGeom prst="rect">
            <a:avLst/>
          </a:prstGeom>
        </p:spPr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B5883EB-A3B9-E8F5-8A6B-29CCC00C97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91722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13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Saving the </a:t>
            </a:r>
            <a:r>
              <a:rPr lang="en-US" sz="6000" dirty="0" err="1">
                <a:latin typeface="Arial"/>
                <a:cs typeface="Arial"/>
              </a:rPr>
              <a:t>Jupyter</a:t>
            </a:r>
            <a:r>
              <a:rPr lang="en-US" sz="6000" dirty="0">
                <a:latin typeface="Arial"/>
                <a:cs typeface="Arial"/>
              </a:rPr>
              <a:t>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73" y="1746259"/>
            <a:ext cx="12538715" cy="4893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dirty="0"/>
              <a:t>In </a:t>
            </a:r>
            <a:r>
              <a:rPr lang="en-US" dirty="0" err="1"/>
              <a:t>Jupyter</a:t>
            </a:r>
            <a:r>
              <a:rPr lang="en-US" dirty="0"/>
              <a:t> Notebook format (.</a:t>
            </a:r>
            <a:r>
              <a:rPr lang="en-US" dirty="0" err="1"/>
              <a:t>ipynb</a:t>
            </a:r>
            <a:r>
              <a:rPr lang="en-US" dirty="0"/>
              <a:t>)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Downloading in other formats</a:t>
            </a:r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File &gt; Download as</a:t>
            </a:r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e.g., </a:t>
            </a:r>
            <a:r>
              <a:rPr lang="en-US" dirty="0" err="1"/>
              <a:t>pdf</a:t>
            </a:r>
            <a:r>
              <a:rPr lang="en-US" dirty="0"/>
              <a:t>, html, latex</a:t>
            </a:r>
          </a:p>
          <a:p>
            <a:pPr marL="1107201" lvl="1" indent="-457200">
              <a:buFont typeface="Wingdings" charset="2"/>
              <a:buChar char="Ø"/>
            </a:pPr>
            <a:r>
              <a:rPr lang="en-US" dirty="0"/>
              <a:t>You can also export the Python code only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51" y="2304248"/>
            <a:ext cx="8025327" cy="21668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961" y="4459158"/>
            <a:ext cx="3974959" cy="510394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321242" y="6999784"/>
            <a:ext cx="4023157" cy="2563316"/>
          </a:xfrm>
          <a:prstGeom prst="roundRect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981215" y="3052470"/>
            <a:ext cx="812854" cy="659324"/>
          </a:xfrm>
          <a:prstGeom prst="ellipse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6E2E8829-4AC8-D155-DF61-AD8178BB429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3790480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14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Using Google </a:t>
            </a:r>
            <a:r>
              <a:rPr lang="en-US" sz="6000" dirty="0" err="1">
                <a:latin typeface="Arial"/>
                <a:cs typeface="Arial"/>
              </a:rPr>
              <a:t>Colab</a:t>
            </a:r>
            <a:r>
              <a:rPr lang="en-US" sz="6000" dirty="0">
                <a:latin typeface="Arial"/>
                <a:cs typeface="Arial"/>
              </a:rPr>
              <a:t>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98" y="1746259"/>
            <a:ext cx="12538715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dirty="0"/>
              <a:t>Go to </a:t>
            </a:r>
            <a:r>
              <a:rPr lang="en-US" dirty="0">
                <a:hlinkClick r:id="rId3"/>
              </a:rPr>
              <a:t>https://colab.research.google.com</a:t>
            </a: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Select “NEW NOTEBOOK”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A new tab will open</a:t>
            </a:r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Follows the same principles with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You can download the .</a:t>
            </a:r>
            <a:r>
              <a:rPr lang="en-US" dirty="0" err="1"/>
              <a:t>ipynb</a:t>
            </a:r>
            <a:r>
              <a:rPr lang="en-US" dirty="0"/>
              <a:t> or Python files </a:t>
            </a:r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You can save it to you Google Drive </a:t>
            </a:r>
            <a:r>
              <a:rPr lang="en-US" dirty="0" err="1"/>
              <a:t>etc</a:t>
            </a: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910" y="1746259"/>
            <a:ext cx="4985069" cy="333537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433047" y="4723401"/>
            <a:ext cx="1007832" cy="557531"/>
          </a:xfrm>
          <a:prstGeom prst="roundRect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37" y="3623199"/>
            <a:ext cx="5727700" cy="2184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80596" y="4349203"/>
            <a:ext cx="789736" cy="557531"/>
          </a:xfrm>
          <a:prstGeom prst="roundRect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441452" y="4349203"/>
            <a:ext cx="789736" cy="557531"/>
          </a:xfrm>
          <a:prstGeom prst="roundRect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450" y="4876483"/>
            <a:ext cx="2522812" cy="4762764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4B25B56B-B6D6-0EC7-EFE2-85458DFA5B4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876177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0086784-1008-A341-915B-19008760A7B2}" type="slidenum">
              <a:rPr lang="en-US" smtClean="0"/>
              <a:t>15</a:t>
            </a:fld>
            <a:endParaRPr lang="en-US" dirty="0"/>
          </a:p>
        </p:txBody>
      </p:sp>
      <p:sp>
        <p:nvSpPr>
          <p:cNvPr id="10" name="Title 11"/>
          <p:cNvSpPr txBox="1">
            <a:spLocks/>
          </p:cNvSpPr>
          <p:nvPr/>
        </p:nvSpPr>
        <p:spPr>
          <a:xfrm>
            <a:off x="117233" y="360596"/>
            <a:ext cx="12876455" cy="1054599"/>
          </a:xfrm>
          <a:prstGeom prst="rect">
            <a:avLst/>
          </a:prstGeom>
        </p:spPr>
        <p:txBody>
          <a:bodyPr vert="horz" wrap="square" lIns="130000" tIns="65000" rIns="130000" bIns="65000" rtlCol="0" anchor="ctr">
            <a:spAutoFit/>
          </a:bodyPr>
          <a:lstStyle>
            <a:lvl1pPr algn="l" defTabSz="650001" rtl="0" eaLnBrk="1" latinLnBrk="0" hangingPunct="1">
              <a:spcBef>
                <a:spcPct val="0"/>
              </a:spcBef>
              <a:buNone/>
              <a:defRPr sz="7800" b="1" kern="120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457200" indent="-457200">
              <a:spcAft>
                <a:spcPts val="600"/>
              </a:spcAft>
            </a:pPr>
            <a:r>
              <a:rPr lang="en-US" sz="6000" dirty="0">
                <a:latin typeface="Arial"/>
                <a:cs typeface="Arial"/>
              </a:rPr>
              <a:t>Useful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98" y="1746259"/>
            <a:ext cx="125387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dirty="0"/>
              <a:t>Video: </a:t>
            </a:r>
            <a:r>
              <a:rPr lang="en-US" dirty="0" err="1"/>
              <a:t>Jupyter</a:t>
            </a:r>
            <a:r>
              <a:rPr lang="en-US" dirty="0"/>
              <a:t> Notebook Tutorial: Introduction, Setup, and Walkthrough</a:t>
            </a:r>
            <a:br>
              <a:rPr lang="en-US" dirty="0"/>
            </a:br>
            <a:r>
              <a:rPr lang="en-US" dirty="0">
                <a:hlinkClick r:id="rId3"/>
              </a:rPr>
              <a:t>https://www.youtube.com/watch?v=HW29067qVWk</a:t>
            </a: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dirty="0"/>
          </a:p>
          <a:p>
            <a:pPr marL="457200" indent="-457200">
              <a:buFont typeface="Wingdings" charset="2"/>
              <a:buChar char="Ø"/>
            </a:pPr>
            <a:endParaRPr lang="en-US" sz="1200" dirty="0"/>
          </a:p>
          <a:p>
            <a:pPr marL="457200" indent="-457200">
              <a:buFont typeface="Wingdings" charset="2"/>
              <a:buChar char="Ø"/>
            </a:pPr>
            <a:r>
              <a:rPr lang="en-US" dirty="0"/>
              <a:t>Introduction to Google </a:t>
            </a:r>
            <a:r>
              <a:rPr lang="en-US" dirty="0" err="1"/>
              <a:t>Colaboratory</a:t>
            </a:r>
            <a:r>
              <a:rPr lang="en-US" dirty="0"/>
              <a:t> </a:t>
            </a:r>
            <a:br>
              <a:rPr lang="en-US" dirty="0"/>
            </a:br>
            <a:r>
              <a:rPr lang="en-US" sz="2800" dirty="0">
                <a:hlinkClick r:id="rId4"/>
              </a:rPr>
              <a:t>https://colab.research.google.com/notebooks/intro.ipynb</a:t>
            </a:r>
            <a:br>
              <a:rPr lang="en-US" sz="2800" dirty="0"/>
            </a:br>
            <a:r>
              <a:rPr lang="en-US" sz="2800" dirty="0">
                <a:hlinkClick r:id="rId5"/>
              </a:rPr>
              <a:t>https://colab.research.google.com/notebooks/basic_features_overview.ipynb</a:t>
            </a:r>
            <a:endParaRPr lang="en-US" sz="2800" dirty="0"/>
          </a:p>
          <a:p>
            <a:pPr marL="457200" indent="-457200">
              <a:buFont typeface="Wingdings" charset="2"/>
              <a:buChar char="Ø"/>
            </a:pPr>
            <a:endParaRPr lang="en-US" sz="2800" dirty="0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4795B24C-F429-46FD-032B-7F6D93D45AA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40238" y="9042400"/>
            <a:ext cx="4113212" cy="520700"/>
          </a:xfrm>
        </p:spPr>
        <p:txBody>
          <a:bodyPr/>
          <a:lstStyle/>
          <a:p>
            <a:r>
              <a:rPr lang="en-US" dirty="0"/>
              <a:t>DATA: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1111545801"/>
      </p:ext>
    </p:extLst>
  </p:cSld>
  <p:clrMapOvr>
    <a:masterClrMapping/>
  </p:clrMapOvr>
</p:sld>
</file>

<file path=ppt/theme/theme1.xml><?xml version="1.0" encoding="utf-8"?>
<a:theme xmlns:a="http://schemas.openxmlformats.org/drawingml/2006/main" name="uoy-powerpoint-standardscreen">
  <a:themeElements>
    <a:clrScheme name="University of York Colour Palette">
      <a:dk1>
        <a:srgbClr val="25303B"/>
      </a:dk1>
      <a:lt1>
        <a:srgbClr val="FFFFFF"/>
      </a:lt1>
      <a:dk2>
        <a:srgbClr val="E3E6E5"/>
      </a:dk2>
      <a:lt2>
        <a:srgbClr val="00627D"/>
      </a:lt2>
      <a:accent1>
        <a:srgbClr val="5AB031"/>
      </a:accent1>
      <a:accent2>
        <a:srgbClr val="9067A9"/>
      </a:accent2>
      <a:accent3>
        <a:srgbClr val="E2388C"/>
      </a:accent3>
      <a:accent4>
        <a:srgbClr val="E62A32"/>
      </a:accent4>
      <a:accent5>
        <a:srgbClr val="F18626"/>
      </a:accent5>
      <a:accent6>
        <a:srgbClr val="00ABAA"/>
      </a:accent6>
      <a:hlink>
        <a:srgbClr val="0096D6"/>
      </a:hlink>
      <a:folHlink>
        <a:srgbClr val="E238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uoy-powerpoint-standardscreen</Template>
  <TotalTime>4952</TotalTime>
  <Words>1541</Words>
  <Application>Microsoft Macintosh PowerPoint</Application>
  <PresentationFormat>Custom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Wingdings</vt:lpstr>
      <vt:lpstr>uoy-powerpoint-standardscreen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York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Lock</dc:creator>
  <cp:lastModifiedBy>Simos Gerasimou</cp:lastModifiedBy>
  <cp:revision>212</cp:revision>
  <dcterms:created xsi:type="dcterms:W3CDTF">2016-10-03T14:02:28Z</dcterms:created>
  <dcterms:modified xsi:type="dcterms:W3CDTF">2025-02-13T15:10:16Z</dcterms:modified>
</cp:coreProperties>
</file>